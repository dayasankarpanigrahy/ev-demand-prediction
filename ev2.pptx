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6" r:id="rId9"/>
    <p:sldId id="267" r:id="rId10"/>
    <p:sldId id="265" r:id="rId11"/>
    <p:sldId id="264" r:id="rId12"/>
    <p:sldId id="262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867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92">
          <p15:clr>
            <a:srgbClr val="A4A3A4"/>
          </p15:clr>
        </p15:guide>
        <p15:guide id="2" pos="192">
          <p15:clr>
            <a:srgbClr val="A4A3A4"/>
          </p15:clr>
        </p15:guide>
        <p15:guide id="3" orient="horz" pos="1080">
          <p15:clr>
            <a:srgbClr val="A4A3A4"/>
          </p15:clr>
        </p15:guide>
      </p15:sldGuideLst>
    </p:ex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go="http://customooxmlschemas.google.com/" xmlns="" r:id="rId220" roundtripDataSignature="AMtx7miWNY2LB4ETJwrL8F0N+EK9hEhqU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8B76EF7-838B-4DED-B538-34AD7637D521}" v="3" dt="2025-08-03T07:23:01.2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934" autoAdjust="0"/>
    <p:restoredTop sz="94660"/>
  </p:normalViewPr>
  <p:slideViewPr>
    <p:cSldViewPr snapToGrid="0">
      <p:cViewPr>
        <p:scale>
          <a:sx n="82" d="100"/>
          <a:sy n="82" d="100"/>
        </p:scale>
        <p:origin x="106" y="72"/>
      </p:cViewPr>
      <p:guideLst>
        <p:guide orient="horz" pos="792"/>
        <p:guide pos="192"/>
        <p:guide orient="horz" pos="10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22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26" Type="http://schemas.microsoft.com/office/2015/10/relationships/revisionInfo" Target="revisionInfo.xml"/><Relationship Id="rId2" Type="http://schemas.openxmlformats.org/officeDocument/2006/relationships/slide" Target="slides/slide1.xml"/><Relationship Id="rId22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20" Type="http://customschemas.google.com/relationships/presentationmetadata" Target="metadata"/><Relationship Id="rId225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22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2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epti Sabat" userId="fe7b1df1d763353d" providerId="LiveId" clId="{38B76EF7-838B-4DED-B538-34AD7637D521}"/>
    <pc:docChg chg="undo custSel modSld">
      <pc:chgData name="Deepti Sabat" userId="fe7b1df1d763353d" providerId="LiveId" clId="{38B76EF7-838B-4DED-B538-34AD7637D521}" dt="2025-08-03T07:23:01.248" v="275" actId="20577"/>
      <pc:docMkLst>
        <pc:docMk/>
      </pc:docMkLst>
      <pc:sldChg chg="addSp delSp modSp mod">
        <pc:chgData name="Deepti Sabat" userId="fe7b1df1d763353d" providerId="LiveId" clId="{38B76EF7-838B-4DED-B538-34AD7637D521}" dt="2025-08-03T07:20:10.302" v="124" actId="1036"/>
        <pc:sldMkLst>
          <pc:docMk/>
          <pc:sldMk cId="367127615" sldId="256"/>
        </pc:sldMkLst>
        <pc:spChg chg="add del mod">
          <ac:chgData name="Deepti Sabat" userId="fe7b1df1d763353d" providerId="LiveId" clId="{38B76EF7-838B-4DED-B538-34AD7637D521}" dt="2025-08-03T07:15:20.092" v="44" actId="20577"/>
          <ac:spMkLst>
            <pc:docMk/>
            <pc:sldMk cId="367127615" sldId="256"/>
            <ac:spMk id="3" creationId="{F52365CD-5927-9512-BD25-9FED7D25D434}"/>
          </ac:spMkLst>
        </pc:spChg>
        <pc:spChg chg="mod">
          <ac:chgData name="Deepti Sabat" userId="fe7b1df1d763353d" providerId="LiveId" clId="{38B76EF7-838B-4DED-B538-34AD7637D521}" dt="2025-08-03T07:19:55.989" v="122" actId="20577"/>
          <ac:spMkLst>
            <pc:docMk/>
            <pc:sldMk cId="367127615" sldId="256"/>
            <ac:spMk id="9" creationId="{DB5DC9DE-26A0-05F5-334E-F3B6CE563E39}"/>
          </ac:spMkLst>
        </pc:spChg>
        <pc:spChg chg="mod">
          <ac:chgData name="Deepti Sabat" userId="fe7b1df1d763353d" providerId="LiveId" clId="{38B76EF7-838B-4DED-B538-34AD7637D521}" dt="2025-08-03T07:18:24.792" v="112" actId="20577"/>
          <ac:spMkLst>
            <pc:docMk/>
            <pc:sldMk cId="367127615" sldId="256"/>
            <ac:spMk id="10" creationId="{B04D6AA1-7F6C-8E00-88EF-2747EBABC506}"/>
          </ac:spMkLst>
        </pc:spChg>
        <pc:picChg chg="mod">
          <ac:chgData name="Deepti Sabat" userId="fe7b1df1d763353d" providerId="LiveId" clId="{38B76EF7-838B-4DED-B538-34AD7637D521}" dt="2025-08-03T07:20:10.302" v="124" actId="1036"/>
          <ac:picMkLst>
            <pc:docMk/>
            <pc:sldMk cId="367127615" sldId="256"/>
            <ac:picMk id="2" creationId="{07B8740D-C76F-46FC-AEFB-23FB0614DB0C}"/>
          </ac:picMkLst>
        </pc:picChg>
      </pc:sldChg>
      <pc:sldChg chg="delSp modSp mod">
        <pc:chgData name="Deepti Sabat" userId="fe7b1df1d763353d" providerId="LiveId" clId="{38B76EF7-838B-4DED-B538-34AD7637D521}" dt="2025-08-03T07:23:01.248" v="275" actId="20577"/>
        <pc:sldMkLst>
          <pc:docMk/>
          <pc:sldMk cId="3002968868" sldId="261"/>
        </pc:sldMkLst>
        <pc:spChg chg="mod">
          <ac:chgData name="Deepti Sabat" userId="fe7b1df1d763353d" providerId="LiveId" clId="{38B76EF7-838B-4DED-B538-34AD7637D521}" dt="2025-08-03T07:23:01.248" v="275" actId="20577"/>
          <ac:spMkLst>
            <pc:docMk/>
            <pc:sldMk cId="3002968868" sldId="261"/>
            <ac:spMk id="4" creationId="{3FAB8D06-CED9-1BF4-CD16-BE7442FD3C08}"/>
          </ac:spMkLst>
        </pc:spChg>
        <pc:spChg chg="del mod">
          <ac:chgData name="Deepti Sabat" userId="fe7b1df1d763353d" providerId="LiveId" clId="{38B76EF7-838B-4DED-B538-34AD7637D521}" dt="2025-08-03T07:20:20.121" v="126" actId="478"/>
          <ac:spMkLst>
            <pc:docMk/>
            <pc:sldMk cId="3002968868" sldId="261"/>
            <ac:spMk id="5" creationId="{D125725F-29A0-D74B-5448-4618870BD85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23413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7878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1877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8266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2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10;p4" descr="A close up of a sign&#10;&#10;Description automatically generated">
            <a:extLst>
              <a:ext uri="{FF2B5EF4-FFF2-40B4-BE49-F238E27FC236}">
                <a16:creationId xmlns:a16="http://schemas.microsoft.com/office/drawing/2014/main" id="{CE849A3B-BCF0-B774-F89E-81965C71F9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072688" y="78002"/>
            <a:ext cx="1800225" cy="57551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E153E6A6-60E4-FE14-1CBC-8CC211274D1C}"/>
              </a:ext>
            </a:extLst>
          </p:cNvPr>
          <p:cNvSpPr/>
          <p:nvPr/>
        </p:nvSpPr>
        <p:spPr>
          <a:xfrm>
            <a:off x="1" y="0"/>
            <a:ext cx="9829800" cy="717630"/>
          </a:xfrm>
          <a:prstGeom prst="rect">
            <a:avLst/>
          </a:prstGeom>
          <a:solidFill>
            <a:srgbClr val="213264"/>
          </a:solidFill>
          <a:ln>
            <a:solidFill>
              <a:srgbClr val="21326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7CE881-772B-9023-3054-4B219B75D755}"/>
              </a:ext>
            </a:extLst>
          </p:cNvPr>
          <p:cNvSpPr/>
          <p:nvPr/>
        </p:nvSpPr>
        <p:spPr>
          <a:xfrm>
            <a:off x="9888967" y="-419"/>
            <a:ext cx="112283" cy="732357"/>
          </a:xfrm>
          <a:prstGeom prst="rect">
            <a:avLst/>
          </a:prstGeom>
          <a:solidFill>
            <a:srgbClr val="7FBA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31" name="Picture 30" descr="A blue and white background&#10;&#10;Description automatically generated with medium confidence">
            <a:extLst>
              <a:ext uri="{FF2B5EF4-FFF2-40B4-BE49-F238E27FC236}">
                <a16:creationId xmlns:a16="http://schemas.microsoft.com/office/drawing/2014/main" id="{16A7B69A-9B14-87FE-841D-37F0A91D141D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alphaModFix amt="16000"/>
          </a:blip>
          <a:srcRect t="24724" r="1619" b="63695"/>
          <a:stretch/>
        </p:blipFill>
        <p:spPr>
          <a:xfrm>
            <a:off x="0" y="-1"/>
            <a:ext cx="9839325" cy="7239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7B91A16-5D54-2FC0-B0FD-A78085FC1313}"/>
              </a:ext>
            </a:extLst>
          </p:cNvPr>
          <p:cNvSpPr/>
          <p:nvPr/>
        </p:nvSpPr>
        <p:spPr>
          <a:xfrm>
            <a:off x="11925300" y="-419"/>
            <a:ext cx="266700" cy="732357"/>
          </a:xfrm>
          <a:prstGeom prst="rect">
            <a:avLst/>
          </a:prstGeom>
          <a:solidFill>
            <a:srgbClr val="FED5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7" r:id="rId1"/>
    <p:sldLayoutId id="2147483701" r:id="rId2"/>
    <p:sldLayoutId id="2147483714" r:id="rId3"/>
    <p:sldLayoutId id="2147483727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www.freepik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ayasankarpanigrahy/Ev_charging_demand_prediction_project-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erson sitting at a desk with a computer&#10;&#10;Description automatically generated">
            <a:extLst>
              <a:ext uri="{FF2B5EF4-FFF2-40B4-BE49-F238E27FC236}">
                <a16:creationId xmlns:a16="http://schemas.microsoft.com/office/drawing/2014/main" id="{07B8740D-C76F-46FC-AEFB-23FB0614D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324"/>
            <a:ext cx="12192000" cy="685800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1857762-AD52-483C-B3E1-635C5BBC6F2F}"/>
              </a:ext>
            </a:extLst>
          </p:cNvPr>
          <p:cNvSpPr/>
          <p:nvPr/>
        </p:nvSpPr>
        <p:spPr>
          <a:xfrm>
            <a:off x="5873750" y="584200"/>
            <a:ext cx="4673600" cy="977900"/>
          </a:xfrm>
          <a:prstGeom prst="roundRect">
            <a:avLst/>
          </a:prstGeom>
          <a:solidFill>
            <a:srgbClr val="EBEEF9"/>
          </a:solidFill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067E9C-C7B9-4476-9708-CBB3F66FD892}"/>
              </a:ext>
            </a:extLst>
          </p:cNvPr>
          <p:cNvSpPr txBox="1"/>
          <p:nvPr/>
        </p:nvSpPr>
        <p:spPr>
          <a:xfrm>
            <a:off x="4247687" y="2649286"/>
            <a:ext cx="7303612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3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 Charging Demand Prediction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7224A59-2417-428A-A991-E468431BB817}"/>
              </a:ext>
            </a:extLst>
          </p:cNvPr>
          <p:cNvGrpSpPr/>
          <p:nvPr/>
        </p:nvGrpSpPr>
        <p:grpSpPr>
          <a:xfrm>
            <a:off x="6890523" y="742091"/>
            <a:ext cx="2640053" cy="664378"/>
            <a:chOff x="2375536" y="1112060"/>
            <a:chExt cx="3292636" cy="828603"/>
          </a:xfrm>
        </p:grpSpPr>
        <p:pic>
          <p:nvPicPr>
            <p:cNvPr id="7" name="Picture 6" descr="A close up of a logo&#10;&#10;Description automatically generated">
              <a:extLst>
                <a:ext uri="{FF2B5EF4-FFF2-40B4-BE49-F238E27FC236}">
                  <a16:creationId xmlns:a16="http://schemas.microsoft.com/office/drawing/2014/main" id="{BD3530AF-9771-470E-A9BF-F28AA2275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2781" y="1270168"/>
              <a:ext cx="1575391" cy="512386"/>
            </a:xfrm>
            <a:prstGeom prst="rect">
              <a:avLst/>
            </a:prstGeom>
          </p:spPr>
        </p:pic>
        <p:pic>
          <p:nvPicPr>
            <p:cNvPr id="8" name="Picture 7" descr="A yellow and red shell logo&#10;&#10;Description automatically generated">
              <a:extLst>
                <a:ext uri="{FF2B5EF4-FFF2-40B4-BE49-F238E27FC236}">
                  <a16:creationId xmlns:a16="http://schemas.microsoft.com/office/drawing/2014/main" id="{75E6A819-9F3F-4787-A707-A7415C302B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375536" y="1112060"/>
              <a:ext cx="985475" cy="828603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52365CD-5927-9512-BD25-9FED7D25D434}"/>
              </a:ext>
            </a:extLst>
          </p:cNvPr>
          <p:cNvSpPr txBox="1"/>
          <p:nvPr/>
        </p:nvSpPr>
        <p:spPr>
          <a:xfrm>
            <a:off x="4958832" y="3908632"/>
            <a:ext cx="47626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Name</a:t>
            </a:r>
            <a:r>
              <a:rPr lang="en-IN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IN" sz="24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Dayasankar</a:t>
            </a:r>
            <a:r>
              <a:rPr lang="en-IN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IN" sz="2400" b="1" dirty="0" err="1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panigrahy</a:t>
            </a:r>
            <a:endParaRPr lang="en-US" sz="2400" b="1" dirty="0">
              <a:solidFill>
                <a:schemeClr val="accent3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5DC9DE-26A0-05F5-334E-F3B6CE563E39}"/>
              </a:ext>
            </a:extLst>
          </p:cNvPr>
          <p:cNvSpPr txBox="1"/>
          <p:nvPr/>
        </p:nvSpPr>
        <p:spPr>
          <a:xfrm>
            <a:off x="4958832" y="4370297"/>
            <a:ext cx="4385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ID</a:t>
            </a:r>
            <a:r>
              <a:rPr lang="en-IN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bsp-23-018</a:t>
            </a:r>
            <a:endParaRPr lang="en-US" sz="2400" b="1" dirty="0">
              <a:solidFill>
                <a:schemeClr val="accent3">
                  <a:lumMod val="40000"/>
                  <a:lumOff val="6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4D6AA1-7F6C-8E00-88EF-2747EBABC506}"/>
              </a:ext>
            </a:extLst>
          </p:cNvPr>
          <p:cNvSpPr txBox="1"/>
          <p:nvPr/>
        </p:nvSpPr>
        <p:spPr>
          <a:xfrm>
            <a:off x="4958832" y="4831962"/>
            <a:ext cx="6503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AICTE ID</a:t>
            </a:r>
            <a:r>
              <a:rPr lang="en-US" sz="2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2400" b="1" dirty="0">
                <a:solidFill>
                  <a:schemeClr val="accent3">
                    <a:lumMod val="40000"/>
                    <a:lumOff val="6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STU6838617087e781748525424</a:t>
            </a:r>
          </a:p>
        </p:txBody>
      </p:sp>
    </p:spTree>
    <p:extLst>
      <p:ext uri="{BB962C8B-B14F-4D97-AF65-F5344CB8AC3E}">
        <p14:creationId xmlns:p14="http://schemas.microsoft.com/office/powerpoint/2010/main" val="367127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94E319-C77C-49E2-964C-6E125D716194}"/>
              </a:ext>
            </a:extLst>
          </p:cNvPr>
          <p:cNvSpPr txBox="1"/>
          <p:nvPr/>
        </p:nvSpPr>
        <p:spPr>
          <a:xfrm>
            <a:off x="191911" y="972537"/>
            <a:ext cx="265288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solidFill>
                  <a:srgbClr val="213163"/>
                </a:solidFill>
              </a:rPr>
              <a:t>Learning Objectives</a:t>
            </a:r>
            <a:endParaRPr lang="en-IN" sz="2000" dirty="0">
              <a:solidFill>
                <a:srgbClr val="213163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1F3497-5370-4874-9908-5AD45214E10B}"/>
              </a:ext>
            </a:extLst>
          </p:cNvPr>
          <p:cNvSpPr txBox="1"/>
          <p:nvPr/>
        </p:nvSpPr>
        <p:spPr>
          <a:xfrm>
            <a:off x="199809" y="6135329"/>
            <a:ext cx="7958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b="1" dirty="0">
                <a:latin typeface="+mn-lt"/>
              </a:rPr>
              <a:t>Source :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E830DD-8813-42EB-B27B-B7D85423D0C7}"/>
              </a:ext>
            </a:extLst>
          </p:cNvPr>
          <p:cNvSpPr txBox="1"/>
          <p:nvPr/>
        </p:nvSpPr>
        <p:spPr>
          <a:xfrm>
            <a:off x="880529" y="6135329"/>
            <a:ext cx="184235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1200" dirty="0">
                <a:solidFill>
                  <a:srgbClr val="0000FF"/>
                </a:solidFill>
                <a:latin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www.freepik.com/</a:t>
            </a:r>
            <a:endParaRPr lang="en-IN" sz="1200" dirty="0">
              <a:solidFill>
                <a:srgbClr val="0000FF"/>
              </a:solidFill>
              <a:latin typeface="+mn-lt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22F707-7F22-48A3-97EC-98EFB1023A55}"/>
              </a:ext>
            </a:extLst>
          </p:cNvPr>
          <p:cNvCxnSpPr/>
          <p:nvPr/>
        </p:nvCxnSpPr>
        <p:spPr>
          <a:xfrm>
            <a:off x="0" y="6055360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ladder leading to a large yellow circle&#10;&#10;Description automatically generated">
            <a:extLst>
              <a:ext uri="{FF2B5EF4-FFF2-40B4-BE49-F238E27FC236}">
                <a16:creationId xmlns:a16="http://schemas.microsoft.com/office/drawing/2014/main" id="{E2920B14-B344-4926-9729-BC7EBD91FF9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85000"/>
          </a:blip>
          <a:srcRect l="13763" t="6135" r="13650"/>
          <a:stretch/>
        </p:blipFill>
        <p:spPr>
          <a:xfrm>
            <a:off x="7345680" y="1442720"/>
            <a:ext cx="4500880" cy="46329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264928-EACB-4739-BDDA-6799C99356F3}"/>
              </a:ext>
            </a:extLst>
          </p:cNvPr>
          <p:cNvSpPr txBox="1"/>
          <p:nvPr/>
        </p:nvSpPr>
        <p:spPr>
          <a:xfrm>
            <a:off x="8839200" y="3168609"/>
            <a:ext cx="1503681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IN" sz="3500" b="1" dirty="0">
                <a:solidFill>
                  <a:schemeClr val="tx1"/>
                </a:solidFill>
                <a:latin typeface="+mn-lt"/>
              </a:rPr>
              <a:t>GOAL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342B6F-4827-3FDC-3F09-CD28B71EBF33}"/>
              </a:ext>
            </a:extLst>
          </p:cNvPr>
          <p:cNvSpPr txBox="1"/>
          <p:nvPr/>
        </p:nvSpPr>
        <p:spPr>
          <a:xfrm>
            <a:off x="345440" y="1472822"/>
            <a:ext cx="7119050" cy="4478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chemeClr val="tx1"/>
                </a:solidFill>
              </a:rPr>
              <a:t>Analyze regional EV adoption trends </a:t>
            </a:r>
            <a:r>
              <a:rPr lang="en-US" sz="1600" dirty="0"/>
              <a:t>using real-world registration data by county and city.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Engineer meaningful features </a:t>
            </a:r>
            <a:r>
              <a:rPr lang="en-US" sz="1600" dirty="0"/>
              <a:t>such as EV counts by type and adoption year for predictive modeling.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Train a Random Forest Classifier </a:t>
            </a:r>
            <a:r>
              <a:rPr lang="en-US" sz="1600" dirty="0"/>
              <a:t>to forecast electric vehicle adoption patterns based on historical attributes.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Evaluate model performance </a:t>
            </a:r>
            <a:r>
              <a:rPr lang="en-US" sz="1600" dirty="0"/>
              <a:t>using Accuracy, Classification Report, and Confusion Matrix.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Visualize feature importance </a:t>
            </a:r>
            <a:r>
              <a:rPr lang="en-US" sz="1600" dirty="0"/>
              <a:t>to identify key drivers influencing EV adoption.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Export trained models </a:t>
            </a:r>
            <a:r>
              <a:rPr lang="en-US" sz="1600" dirty="0"/>
              <a:t>using </a:t>
            </a:r>
            <a:r>
              <a:rPr lang="en-US" sz="1600" dirty="0" err="1"/>
              <a:t>joblib</a:t>
            </a:r>
            <a:r>
              <a:rPr lang="en-US" sz="1600" dirty="0"/>
              <a:t> for future deployment and integration into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932052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35834" y="1067664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213163"/>
                </a:solidFill>
              </a:rPr>
              <a:t>T</a:t>
            </a:r>
            <a:r>
              <a:rPr lang="en-IN" sz="2000" b="1" dirty="0" err="1">
                <a:solidFill>
                  <a:srgbClr val="213163"/>
                </a:solidFill>
              </a:rPr>
              <a:t>ools</a:t>
            </a:r>
            <a:r>
              <a:rPr lang="en-IN" sz="2000" b="1" dirty="0">
                <a:solidFill>
                  <a:srgbClr val="213163"/>
                </a:solidFill>
              </a:rPr>
              <a:t> and Technology used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B4F0B1D-BB31-2B39-4D6D-3F94D1860915}"/>
              </a:ext>
            </a:extLst>
          </p:cNvPr>
          <p:cNvSpPr txBox="1"/>
          <p:nvPr/>
        </p:nvSpPr>
        <p:spPr>
          <a:xfrm>
            <a:off x="317448" y="1538137"/>
            <a:ext cx="10664682" cy="29705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Language</a:t>
            </a:r>
            <a:r>
              <a:rPr lang="en-US" sz="1600" dirty="0"/>
              <a:t>: Python 3.12.10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Environment</a:t>
            </a:r>
            <a:r>
              <a:rPr lang="en-US" sz="1600" dirty="0"/>
              <a:t>: </a:t>
            </a:r>
            <a:r>
              <a:rPr lang="en-US" sz="1600" dirty="0" err="1"/>
              <a:t>Jupyter</a:t>
            </a:r>
            <a:r>
              <a:rPr lang="en-US" sz="1600" dirty="0"/>
              <a:t> Notebook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Libraries</a:t>
            </a:r>
            <a:r>
              <a:rPr lang="en-US" sz="1600" dirty="0"/>
              <a:t>: Pandas, NumPy, Matplotlib, Seaborn, Scikit-learn, </a:t>
            </a:r>
            <a:r>
              <a:rPr lang="en-US" sz="1600" dirty="0" err="1"/>
              <a:t>Joblib</a:t>
            </a:r>
            <a:r>
              <a:rPr lang="en-US" sz="1600" dirty="0"/>
              <a:t>, </a:t>
            </a:r>
            <a:r>
              <a:rPr lang="en-US" sz="1600" dirty="0" err="1"/>
              <a:t>Streamlit</a:t>
            </a:r>
            <a:endParaRPr lang="en-US" sz="16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Dataset Format</a:t>
            </a:r>
            <a:r>
              <a:rPr lang="en-US" sz="1600" dirty="0"/>
              <a:t>: CSV files (raw and preprocessed data)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Web App</a:t>
            </a:r>
            <a:r>
              <a:rPr lang="en-US" sz="1600" dirty="0"/>
              <a:t>: </a:t>
            </a:r>
            <a:r>
              <a:rPr lang="en-US" sz="1600" dirty="0" err="1"/>
              <a:t>Streamlit</a:t>
            </a:r>
            <a:r>
              <a:rPr lang="en-US" sz="1600" dirty="0"/>
              <a:t> for interactive deployment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Version Control</a:t>
            </a:r>
            <a:r>
              <a:rPr lang="en-US" sz="1600" dirty="0"/>
              <a:t>: Git &amp; GitHub for code management</a:t>
            </a:r>
          </a:p>
        </p:txBody>
      </p:sp>
    </p:spTree>
    <p:extLst>
      <p:ext uri="{BB962C8B-B14F-4D97-AF65-F5344CB8AC3E}">
        <p14:creationId xmlns:p14="http://schemas.microsoft.com/office/powerpoint/2010/main" val="564571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68356" y="1014656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Methodology</a:t>
            </a:r>
            <a:r>
              <a:rPr lang="en-US" sz="1800" b="1" dirty="0">
                <a:solidFill>
                  <a:srgbClr val="213163"/>
                </a:solidFill>
              </a:rPr>
              <a:t>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7C3DA1-C8F7-3552-475F-288D85217DCD}"/>
              </a:ext>
            </a:extLst>
          </p:cNvPr>
          <p:cNvSpPr txBox="1"/>
          <p:nvPr/>
        </p:nvSpPr>
        <p:spPr>
          <a:xfrm>
            <a:off x="380323" y="1519376"/>
            <a:ext cx="7915265" cy="5309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Steps: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Data Collection &amp; Loading</a:t>
            </a:r>
            <a:r>
              <a:rPr lang="en-US" sz="1600" dirty="0"/>
              <a:t>: Collected EV registration data (CSV) and loaded it using Pandas.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Data Preprocessing</a:t>
            </a:r>
            <a:r>
              <a:rPr lang="en-US" sz="1600" dirty="0"/>
              <a:t>: Handled missing values, encoded categorical data, and created new features.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Exploratory Data Analysis (EDA)</a:t>
            </a:r>
            <a:r>
              <a:rPr lang="en-US" sz="1600" dirty="0"/>
              <a:t>: Explored data patterns and trends using visualizations with Matplotlib and Seaborn.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Model Training</a:t>
            </a:r>
            <a:r>
              <a:rPr lang="en-US" sz="1600" dirty="0"/>
              <a:t>: Built a Random Forest Classifier to predict EV adoption using selected features.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Model Evaluation</a:t>
            </a:r>
            <a:r>
              <a:rPr lang="en-US" sz="1600" dirty="0"/>
              <a:t>: Evaluated performance using accuracy, confusion matrix, and feature importance.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1600" b="1" dirty="0"/>
              <a:t>Deployment</a:t>
            </a:r>
            <a:r>
              <a:rPr lang="en-US" sz="1600" dirty="0"/>
              <a:t>: Saved the trained model with </a:t>
            </a:r>
            <a:r>
              <a:rPr lang="en-US" sz="1600" dirty="0" err="1"/>
              <a:t>Joblib</a:t>
            </a:r>
            <a:r>
              <a:rPr lang="en-US" sz="1600" dirty="0"/>
              <a:t> and deployed an interactive web app using </a:t>
            </a:r>
            <a:r>
              <a:rPr lang="en-US" sz="1600" dirty="0" err="1"/>
              <a:t>Streamlit</a:t>
            </a:r>
            <a:r>
              <a:rPr lang="en-US" sz="1600" dirty="0"/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04B5678-4F34-3AA6-84A1-35046C745C87}"/>
              </a:ext>
            </a:extLst>
          </p:cNvPr>
          <p:cNvSpPr/>
          <p:nvPr/>
        </p:nvSpPr>
        <p:spPr>
          <a:xfrm>
            <a:off x="9201816" y="5507325"/>
            <a:ext cx="2084675" cy="64873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/>
              <a:t>Deployment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DABBD05-FD7E-ABB9-B1CA-0C5C5D181CC7}"/>
              </a:ext>
            </a:extLst>
          </p:cNvPr>
          <p:cNvSpPr/>
          <p:nvPr/>
        </p:nvSpPr>
        <p:spPr>
          <a:xfrm>
            <a:off x="9201818" y="2761217"/>
            <a:ext cx="2042253" cy="64873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/>
              <a:t>Data Preprocessing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938DBF1-CA99-BDC9-8C62-D3BB45DAD5D2}"/>
              </a:ext>
            </a:extLst>
          </p:cNvPr>
          <p:cNvSpPr/>
          <p:nvPr/>
        </p:nvSpPr>
        <p:spPr>
          <a:xfrm>
            <a:off x="9201816" y="3686937"/>
            <a:ext cx="2042253" cy="64873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/>
              <a:t>Exploratory Data Analysis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701073E-69A2-ACB3-CEB4-46F4D77C7CF0}"/>
              </a:ext>
            </a:extLst>
          </p:cNvPr>
          <p:cNvSpPr/>
          <p:nvPr/>
        </p:nvSpPr>
        <p:spPr>
          <a:xfrm>
            <a:off x="9201816" y="4597131"/>
            <a:ext cx="2084675" cy="64873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/>
              <a:t>Model Training &amp; Evaluation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87CE4E12-9018-2009-7921-E757B8F43E3B}"/>
              </a:ext>
            </a:extLst>
          </p:cNvPr>
          <p:cNvSpPr/>
          <p:nvPr/>
        </p:nvSpPr>
        <p:spPr>
          <a:xfrm>
            <a:off x="9201816" y="1835497"/>
            <a:ext cx="1997802" cy="648730"/>
          </a:xfrm>
          <a:prstGeom prst="ellipse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300" dirty="0"/>
              <a:t>Data Collection &amp; Loading</a:t>
            </a:r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423173F0-EFBE-AC21-EF3E-8EBEC4EC2BB6}"/>
              </a:ext>
            </a:extLst>
          </p:cNvPr>
          <p:cNvSpPr/>
          <p:nvPr/>
        </p:nvSpPr>
        <p:spPr>
          <a:xfrm>
            <a:off x="10064029" y="2507560"/>
            <a:ext cx="273377" cy="253657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DC0928B-4C6D-D185-C57D-7E51E019F0CA}"/>
              </a:ext>
            </a:extLst>
          </p:cNvPr>
          <p:cNvSpPr/>
          <p:nvPr/>
        </p:nvSpPr>
        <p:spPr>
          <a:xfrm>
            <a:off x="10064030" y="3412930"/>
            <a:ext cx="273377" cy="253657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D67284C8-A7D4-CE5B-5D8D-98C72267A0A0}"/>
              </a:ext>
            </a:extLst>
          </p:cNvPr>
          <p:cNvSpPr/>
          <p:nvPr/>
        </p:nvSpPr>
        <p:spPr>
          <a:xfrm>
            <a:off x="10064028" y="4343474"/>
            <a:ext cx="273377" cy="253657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36B9EF89-D3F9-0E23-1738-AA9EF04A6AD7}"/>
              </a:ext>
            </a:extLst>
          </p:cNvPr>
          <p:cNvSpPr/>
          <p:nvPr/>
        </p:nvSpPr>
        <p:spPr>
          <a:xfrm>
            <a:off x="10064027" y="5253668"/>
            <a:ext cx="273377" cy="253657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79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Problem Statement: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754D600-F3E1-77B9-57EF-51F0CCBC2EFD}"/>
              </a:ext>
            </a:extLst>
          </p:cNvPr>
          <p:cNvSpPr txBox="1"/>
          <p:nvPr/>
        </p:nvSpPr>
        <p:spPr>
          <a:xfrm>
            <a:off x="410140" y="1658524"/>
            <a:ext cx="10413574" cy="4109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/>
              <a:t>EV Charging Demand Prediction in Washington State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With the rapid growth of </a:t>
            </a:r>
            <a:r>
              <a:rPr lang="en-US" sz="1600" b="1" dirty="0"/>
              <a:t>electric vehicles (EVs) </a:t>
            </a:r>
            <a:r>
              <a:rPr lang="en-US" sz="1600" dirty="0"/>
              <a:t>across Washington State, predicting regional charging demand is essential for sustainable infrastructure planning.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dataset 'Electric_Vehicle_Population_By_County.csv' includes EV registration data across approximately </a:t>
            </a:r>
            <a:r>
              <a:rPr lang="en-US" sz="1600" b="1" dirty="0"/>
              <a:t>311 counties </a:t>
            </a:r>
            <a:r>
              <a:rPr lang="en-US" sz="1600" dirty="0"/>
              <a:t>in Washington.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Uneven EV distribution makes it challenging to determine where </a:t>
            </a:r>
            <a:r>
              <a:rPr lang="en-US" sz="1600" b="1" dirty="0"/>
              <a:t>charging stations are most urgently needed.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 This project aims to analyze EV population trends and develop a </a:t>
            </a:r>
            <a:r>
              <a:rPr lang="en-US" sz="1600" b="1" dirty="0"/>
              <a:t>predictive model </a:t>
            </a:r>
            <a:r>
              <a:rPr lang="en-US" sz="1600" dirty="0"/>
              <a:t>to estimate future EV charging demand across counties.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insights will assist policymakers, urban planners, and energy providers in making </a:t>
            </a:r>
            <a:r>
              <a:rPr lang="en-US" sz="1600" b="1" dirty="0"/>
              <a:t>data-driven decisions</a:t>
            </a:r>
            <a:r>
              <a:rPr lang="en-US" sz="1600" dirty="0"/>
              <a:t> for optimizing charging infrastructure.</a:t>
            </a:r>
          </a:p>
        </p:txBody>
      </p:sp>
    </p:spTree>
    <p:extLst>
      <p:ext uri="{BB962C8B-B14F-4D97-AF65-F5344CB8AC3E}">
        <p14:creationId xmlns:p14="http://schemas.microsoft.com/office/powerpoint/2010/main" val="319659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Solution: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0B6DF4-68A5-A396-59F4-62BFB81E1B80}"/>
              </a:ext>
            </a:extLst>
          </p:cNvPr>
          <p:cNvSpPr txBox="1"/>
          <p:nvPr/>
        </p:nvSpPr>
        <p:spPr>
          <a:xfrm>
            <a:off x="410140" y="1658524"/>
            <a:ext cx="10674627" cy="26320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Collected EV registration data</a:t>
            </a:r>
            <a:r>
              <a:rPr lang="en-US" sz="1600" dirty="0"/>
              <a:t> for 311 counties from Washington State.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Preprocessed and engineered features</a:t>
            </a:r>
            <a:r>
              <a:rPr lang="en-US" sz="1600" dirty="0"/>
              <a:t> like lag values, rolling averages, and growth slopes.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Trained multiple regression models</a:t>
            </a:r>
            <a:r>
              <a:rPr lang="en-US" sz="1600" dirty="0"/>
              <a:t> — Decision Tree, SVR, and Random Forest.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Selected Random Forest Regressor</a:t>
            </a:r>
            <a:r>
              <a:rPr lang="en-US" sz="1600" dirty="0"/>
              <a:t> based on best performance (R² = 0.94, MAE ≈ 98.5).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Forecasted EV adoption</a:t>
            </a:r>
            <a:r>
              <a:rPr lang="en-US" sz="1600" dirty="0"/>
              <a:t> for the next </a:t>
            </a:r>
            <a:r>
              <a:rPr lang="en-US" sz="1600" b="1" dirty="0"/>
              <a:t>36 months</a:t>
            </a:r>
            <a:r>
              <a:rPr lang="en-US" sz="1600" dirty="0"/>
              <a:t> at the county level.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/>
              <a:t>Deployed the solution</a:t>
            </a:r>
            <a:r>
              <a:rPr lang="en-US" sz="1600" dirty="0"/>
              <a:t> using an interactive </a:t>
            </a:r>
            <a:r>
              <a:rPr lang="en-US" sz="1600" dirty="0" err="1"/>
              <a:t>Streamlit</a:t>
            </a:r>
            <a:r>
              <a:rPr lang="en-US" sz="1600" dirty="0"/>
              <a:t> web app with forecasting and comparison features.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AB8D06-CED9-1BF4-CD16-BE7442FD3C08}"/>
              </a:ext>
            </a:extLst>
          </p:cNvPr>
          <p:cNvSpPr txBox="1"/>
          <p:nvPr/>
        </p:nvSpPr>
        <p:spPr>
          <a:xfrm>
            <a:off x="525894" y="4494529"/>
            <a:ext cx="898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dirty="0" err="1"/>
              <a:t>Github</a:t>
            </a:r>
            <a:r>
              <a:rPr lang="en-IN" sz="1600" b="1" dirty="0"/>
              <a:t> Repository Link</a:t>
            </a:r>
            <a:r>
              <a:rPr lang="en-IN" sz="1600" dirty="0"/>
              <a:t>:</a:t>
            </a:r>
          </a:p>
          <a:p>
            <a:r>
              <a:rPr lang="en-IN" sz="1600" dirty="0"/>
              <a:t> </a:t>
            </a:r>
            <a:r>
              <a:rPr lang="en-IN" sz="1600" dirty="0">
                <a:hlinkClick r:id="rId2"/>
              </a:rPr>
              <a:t>https://github.com/dayasankarpanigrahy/Ev_charging_demand_prediction</a:t>
            </a:r>
            <a:r>
              <a:rPr lang="en-IN" sz="1600">
                <a:hlinkClick r:id="rId2"/>
              </a:rPr>
              <a:t>_project-</a:t>
            </a:r>
            <a:r>
              <a:rPr lang="en-IN" sz="1600"/>
              <a:t> 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029688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7" name="Picture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5273D68-BFD8-F304-739F-A2ECDB4670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473" t="35993" r="11748"/>
          <a:stretch/>
        </p:blipFill>
        <p:spPr>
          <a:xfrm>
            <a:off x="255104" y="2099388"/>
            <a:ext cx="5039660" cy="3320592"/>
          </a:xfrm>
          <a:prstGeom prst="rect">
            <a:avLst/>
          </a:prstGeom>
        </p:spPr>
      </p:pic>
      <p:pic>
        <p:nvPicPr>
          <p:cNvPr id="9" name="Picture 8" descr="A graph with orange lines&#10;&#10;AI-generated content may be incorrect.">
            <a:extLst>
              <a:ext uri="{FF2B5EF4-FFF2-40B4-BE49-F238E27FC236}">
                <a16:creationId xmlns:a16="http://schemas.microsoft.com/office/drawing/2014/main" id="{01B5CF21-2484-878C-2D75-76578B93D1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4" t="29001" r="3381"/>
          <a:stretch/>
        </p:blipFill>
        <p:spPr>
          <a:xfrm>
            <a:off x="5956036" y="2064872"/>
            <a:ext cx="5651096" cy="335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5949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 descr="A graph with blue and orange lines&#10;&#10;AI-generated content may be incorrect.">
            <a:extLst>
              <a:ext uri="{FF2B5EF4-FFF2-40B4-BE49-F238E27FC236}">
                <a16:creationId xmlns:a16="http://schemas.microsoft.com/office/drawing/2014/main" id="{353403BD-588F-E181-5FD5-37CC341B4F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84" b="3490"/>
          <a:stretch/>
        </p:blipFill>
        <p:spPr>
          <a:xfrm>
            <a:off x="5966683" y="2192693"/>
            <a:ext cx="5873713" cy="3241010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5FADC462-5468-3C03-30DC-5FE9689CA6C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15" t="32245" r="2896"/>
          <a:stretch/>
        </p:blipFill>
        <p:spPr bwMode="auto">
          <a:xfrm>
            <a:off x="255104" y="2192693"/>
            <a:ext cx="5420289" cy="3241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173931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4A3B798C-3A78-C7E0-F2BC-5E6ED1155D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59" t="5680" b="4689"/>
          <a:stretch/>
        </p:blipFill>
        <p:spPr bwMode="auto">
          <a:xfrm>
            <a:off x="303855" y="2287161"/>
            <a:ext cx="5655299" cy="2944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3136A69D-A660-1535-BFAA-A26AEACA2F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4" t="3428"/>
          <a:stretch/>
        </p:blipFill>
        <p:spPr bwMode="auto">
          <a:xfrm>
            <a:off x="6232848" y="2287161"/>
            <a:ext cx="5655299" cy="307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11322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4" name="Picture 3" descr="A car on a track&#10;&#10;AI-generated content may be incorrect.">
            <a:extLst>
              <a:ext uri="{FF2B5EF4-FFF2-40B4-BE49-F238E27FC236}">
                <a16:creationId xmlns:a16="http://schemas.microsoft.com/office/drawing/2014/main" id="{59D91F9C-985C-116E-3CBE-A7629CDF147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327" r="1731"/>
          <a:stretch/>
        </p:blipFill>
        <p:spPr>
          <a:xfrm>
            <a:off x="333644" y="1744824"/>
            <a:ext cx="5421084" cy="4618464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04E1670B-DC16-4531-7DA4-F5E380F80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67136" y="1744824"/>
            <a:ext cx="5721849" cy="4618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2351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255104" y="1054412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Screenshot of Output:  </a:t>
            </a:r>
            <a:endParaRPr lang="en-IN" sz="2000" b="1" dirty="0">
              <a:solidFill>
                <a:srgbClr val="213163"/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6539AF6-6395-D877-2ADB-7ECB6DA3AC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70" t="3533" r="10328" b="4246"/>
          <a:stretch/>
        </p:blipFill>
        <p:spPr bwMode="auto">
          <a:xfrm>
            <a:off x="3376599" y="1510508"/>
            <a:ext cx="5999585" cy="50185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3206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361D872-7EC7-439F-A588-B1D90CB7A92F}"/>
              </a:ext>
            </a:extLst>
          </p:cNvPr>
          <p:cNvSpPr txBox="1"/>
          <p:nvPr/>
        </p:nvSpPr>
        <p:spPr>
          <a:xfrm>
            <a:off x="149087" y="988151"/>
            <a:ext cx="61026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rgbClr val="213163"/>
                </a:solidFill>
              </a:rPr>
              <a:t>Conclusion:</a:t>
            </a:r>
            <a:r>
              <a:rPr lang="en-US" sz="1800" b="1" dirty="0">
                <a:solidFill>
                  <a:srgbClr val="213163"/>
                </a:solidFill>
              </a:rPr>
              <a:t>  </a:t>
            </a:r>
            <a:endParaRPr lang="en-IN" sz="1800" dirty="0">
              <a:solidFill>
                <a:srgbClr val="213163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86F763-3664-E5D8-FBE8-CA6D966290E3}"/>
              </a:ext>
            </a:extLst>
          </p:cNvPr>
          <p:cNvSpPr txBox="1"/>
          <p:nvPr/>
        </p:nvSpPr>
        <p:spPr>
          <a:xfrm>
            <a:off x="292231" y="1892449"/>
            <a:ext cx="10803117" cy="1616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Forecasted electric vehicle (EV) adoption for 311 counties in Washington State using real-world registration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Performed time-series feature engineering including lag values, rolling averages, and EV growth trends.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Trained and evaluated a </a:t>
            </a:r>
            <a:r>
              <a:rPr lang="en-US" sz="1600" b="1" dirty="0"/>
              <a:t>Random Forest Regressor</a:t>
            </a:r>
            <a:r>
              <a:rPr lang="en-US" sz="1600" dirty="0"/>
              <a:t>, achieving a strong </a:t>
            </a:r>
            <a:r>
              <a:rPr lang="en-US" sz="1600" b="1" dirty="0"/>
              <a:t>R² score of 0.94</a:t>
            </a:r>
            <a:r>
              <a:rPr lang="en-US" sz="1600" dirty="0"/>
              <a:t>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Built and deployed an interactive </a:t>
            </a:r>
            <a:r>
              <a:rPr lang="en-US" sz="1600" b="1" dirty="0" err="1"/>
              <a:t>Streamlit</a:t>
            </a:r>
            <a:r>
              <a:rPr lang="en-US" sz="1600" b="1" dirty="0"/>
              <a:t> app</a:t>
            </a:r>
            <a:r>
              <a:rPr lang="en-US" sz="1600" dirty="0"/>
              <a:t> for county-wise EV forecasting and visualization.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CCBEDA-58E2-859E-CD39-042185C0F013}"/>
              </a:ext>
            </a:extLst>
          </p:cNvPr>
          <p:cNvSpPr txBox="1"/>
          <p:nvPr/>
        </p:nvSpPr>
        <p:spPr>
          <a:xfrm>
            <a:off x="292231" y="1597635"/>
            <a:ext cx="2309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Summary: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7A493B-E878-D3BF-65BE-02018032F263}"/>
              </a:ext>
            </a:extLst>
          </p:cNvPr>
          <p:cNvSpPr txBox="1"/>
          <p:nvPr/>
        </p:nvSpPr>
        <p:spPr>
          <a:xfrm>
            <a:off x="292231" y="3657972"/>
            <a:ext cx="23095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Future Scope:</a:t>
            </a:r>
            <a:endParaRPr lang="en-IN" sz="16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9EF653-9167-880A-67C3-6A4DD6BEC4E9}"/>
              </a:ext>
            </a:extLst>
          </p:cNvPr>
          <p:cNvSpPr txBox="1"/>
          <p:nvPr/>
        </p:nvSpPr>
        <p:spPr>
          <a:xfrm>
            <a:off x="292231" y="4037628"/>
            <a:ext cx="11293311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Explore more advanced models like </a:t>
            </a:r>
            <a:r>
              <a:rPr lang="en-US" sz="1600" b="1" dirty="0"/>
              <a:t>Gradient Boosting</a:t>
            </a:r>
            <a:r>
              <a:rPr lang="en-US" sz="1600" dirty="0"/>
              <a:t> or </a:t>
            </a:r>
            <a:r>
              <a:rPr lang="en-US" sz="1600" b="1" dirty="0"/>
              <a:t>LSTM</a:t>
            </a:r>
            <a:r>
              <a:rPr lang="en-US" sz="1600" dirty="0"/>
              <a:t> to capture complex patterns.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Integrate external factors such as </a:t>
            </a:r>
            <a:r>
              <a:rPr lang="en-US" sz="1600" b="1" dirty="0"/>
              <a:t>charging station availability </a:t>
            </a:r>
            <a:r>
              <a:rPr lang="en-US" sz="1600" dirty="0"/>
              <a:t>and</a:t>
            </a:r>
            <a:r>
              <a:rPr lang="en-US" sz="1600" b="1" dirty="0"/>
              <a:t> policy changes </a:t>
            </a:r>
            <a:r>
              <a:rPr lang="en-US" sz="1600" dirty="0"/>
              <a:t>to improve prediction accuracy</a:t>
            </a:r>
          </a:p>
        </p:txBody>
      </p:sp>
    </p:spTree>
    <p:extLst>
      <p:ext uri="{BB962C8B-B14F-4D97-AF65-F5344CB8AC3E}">
        <p14:creationId xmlns:p14="http://schemas.microsoft.com/office/powerpoint/2010/main" val="151988358"/>
      </p:ext>
    </p:extLst>
  </p:cSld>
  <p:clrMapOvr>
    <a:masterClrMapping/>
  </p:clrMapOvr>
</p:sld>
</file>

<file path=ppt/theme/theme1.xml><?xml version="1.0" encoding="utf-8"?>
<a:theme xmlns:a="http://schemas.openxmlformats.org/drawingml/2006/main" name="Session 01 Design Thinking &amp; Critical Thinking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ssion 01 Design Thinking &amp; Critical Thinking" id="{1DE73F69-F87A-4ED3-81C1-82D2BA622E0C}" vid="{37568650-F724-47C7-905E-9640F801749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Session 01 Design Thinking &amp; Critical Thinking</Template>
  <TotalTime>318</TotalTime>
  <Words>631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4" baseType="lpstr">
      <vt:lpstr>Arial</vt:lpstr>
      <vt:lpstr>Session 01 Design Thinking &amp; Critical Thinking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Mahesh Kurhe</dc:creator>
  <cp:lastModifiedBy>Deepti Sabat</cp:lastModifiedBy>
  <cp:revision>11</cp:revision>
  <dcterms:created xsi:type="dcterms:W3CDTF">2024-12-31T09:40:01Z</dcterms:created>
  <dcterms:modified xsi:type="dcterms:W3CDTF">2025-08-03T07:23:01Z</dcterms:modified>
</cp:coreProperties>
</file>